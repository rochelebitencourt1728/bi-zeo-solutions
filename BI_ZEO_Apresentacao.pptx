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41205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9123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209372" y="1296786"/>
            <a:ext cx="4725228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C41E3A"/>
                </a:solidFill>
              </a:rPr>
              <a:t>BI ZEO SOLUTIONS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2207530" y="2139748"/>
            <a:ext cx="472893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111"/>
                </a:solidFill>
              </a:rPr>
              <a:t>Relatório de Desempenho Financeiro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3913184" y="2704105"/>
            <a:ext cx="13176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C41E3A"/>
                </a:solidFill>
              </a:rPr>
              <a:t>JANEIRO 2026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0" y="4177698"/>
            <a:ext cx="9144000" cy="9658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17769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4492023"/>
            <a:ext cx="86880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Preparado por: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 BI Zeo Solutions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551558" y="4645223"/>
            <a:ext cx="13066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02 de Fevereiro de 2026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9233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1905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3429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📊 Resumo Financeiro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42875" y="2609980"/>
            <a:ext cx="4343400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Janeiro de 2026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apresenta um cenário de desafio financeiro com custos 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superando as receitas operacionais.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142875" y="3187173"/>
            <a:ext cx="4343400" cy="298252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" y="3187173"/>
            <a:ext cx="28575" cy="2982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6"/>
          <p:cNvSpPr/>
          <p:nvPr/>
        </p:nvSpPr>
        <p:spPr>
          <a:xfrm>
            <a:off x="142875" y="3187173"/>
            <a:ext cx="4343400" cy="298252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⚠️ Resultado Negativo - Ação Necessária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657725" y="1340346"/>
            <a:ext cx="4343400" cy="810816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440359"/>
            <a:ext cx="41719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Total de Receitas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743450" y="1633240"/>
            <a:ext cx="41719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7AE60"/>
                </a:solidFill>
              </a:rPr>
              <a:t>R$ 38.904,00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4743450" y="1935063"/>
            <a:ext cx="41719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Receitas Operacionais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657725" y="2194024"/>
            <a:ext cx="4343400" cy="810816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43450" y="2294037"/>
            <a:ext cx="41719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Total de Custos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743450" y="2486918"/>
            <a:ext cx="41719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C41E3A"/>
                </a:solidFill>
              </a:rPr>
              <a:t>R$ -43.837,68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4743450" y="2788741"/>
            <a:ext cx="41719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Custos Operacionais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657725" y="3047702"/>
            <a:ext cx="4343400" cy="810816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43450" y="3147715"/>
            <a:ext cx="41719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Resultado Operacional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743450" y="3340596"/>
            <a:ext cx="41719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C41E3A"/>
                </a:solidFill>
              </a:rPr>
              <a:t>R$ -4.933,68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743450" y="3642420"/>
            <a:ext cx="41719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Diferença Receitas - Custos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4657725" y="3901380"/>
            <a:ext cx="4343400" cy="810816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43450" y="4001393"/>
            <a:ext cx="41719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Margem Média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743450" y="4194274"/>
            <a:ext cx="41719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C41E3A"/>
                </a:solidFill>
              </a:rPr>
              <a:t>-12,68%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4743450" y="4496098"/>
            <a:ext cx="41719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Margem Operacional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🎯 Performance por Projeto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00050" y="2295823"/>
            <a:ext cx="31661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41E3A"/>
                </a:solidFill>
              </a:rPr>
              <a:t>⭐</a:t>
            </a:r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Tramontina TEEC Filtros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709029" y="2235101"/>
            <a:ext cx="15830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Receitas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3709029" y="2356545"/>
            <a:ext cx="1583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R$ 36.000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434943" y="2235101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Resultado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5434943" y="2356545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R$ 32.391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160884" y="2235101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Margem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7160884" y="2356545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89,98%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00050" y="2916436"/>
            <a:ext cx="3541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Flucor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709029" y="2845891"/>
            <a:ext cx="15830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Receitas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3709029" y="2967335"/>
            <a:ext cx="1583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R$ 2.310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434943" y="2845891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Resultado</a:t>
            </a:r>
            <a:endParaRPr lang="en-US" sz="568" dirty="0"/>
          </a:p>
        </p:txBody>
      </p:sp>
      <p:sp>
        <p:nvSpPr>
          <p:cNvPr id="17" name="Text 14"/>
          <p:cNvSpPr/>
          <p:nvPr/>
        </p:nvSpPr>
        <p:spPr>
          <a:xfrm>
            <a:off x="5434943" y="2967335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R$ 1.918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7160884" y="2845891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Margem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7160884" y="2967335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83,02%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00050" y="3527227"/>
            <a:ext cx="13570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Tramontina Consultoria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709029" y="3456682"/>
            <a:ext cx="15830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Receitas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3709029" y="3578126"/>
            <a:ext cx="1583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R$ 594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434943" y="3456682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Resultado</a:t>
            </a:r>
            <a:endParaRPr lang="en-US" sz="568" dirty="0"/>
          </a:p>
        </p:txBody>
      </p:sp>
      <p:sp>
        <p:nvSpPr>
          <p:cNvPr id="24" name="Text 21"/>
          <p:cNvSpPr/>
          <p:nvPr/>
        </p:nvSpPr>
        <p:spPr>
          <a:xfrm>
            <a:off x="5434943" y="3578126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R$ 469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160884" y="3456682"/>
            <a:ext cx="15830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Margem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7160884" y="3578126"/>
            <a:ext cx="1583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7AE60"/>
                </a:solidFill>
              </a:rPr>
              <a:t>78,98%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⚠️ Projetos Deficitários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1059061"/>
            <a:ext cx="8572500" cy="460772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059061"/>
            <a:ext cx="42863" cy="46077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201936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6 projetos sem receita em janeiro, gerando custos sem retorno operacional.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292894" y="1741289"/>
            <a:ext cx="3621435" cy="37504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/>
          <p:nvPr/>
        </p:nvSpPr>
        <p:spPr>
          <a:xfrm>
            <a:off x="292894" y="1741289"/>
            <a:ext cx="3621435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Projeto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914329" y="1741289"/>
            <a:ext cx="2442437" cy="37504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/>
          <p:nvPr/>
        </p:nvSpPr>
        <p:spPr>
          <a:xfrm>
            <a:off x="3914329" y="1741289"/>
            <a:ext cx="2442437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Custos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6356765" y="1741289"/>
            <a:ext cx="2494341" cy="37504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/>
          <p:nvPr/>
        </p:nvSpPr>
        <p:spPr>
          <a:xfrm>
            <a:off x="6356765" y="1741289"/>
            <a:ext cx="2494341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Resultado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292894" y="2116336"/>
            <a:ext cx="3621435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Frasle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914329" y="2116336"/>
            <a:ext cx="2442437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-425,00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356765" y="2116336"/>
            <a:ext cx="2494341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-425,00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292894" y="2475309"/>
            <a:ext cx="8558213" cy="36254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Text 16"/>
          <p:cNvSpPr/>
          <p:nvPr/>
        </p:nvSpPr>
        <p:spPr>
          <a:xfrm>
            <a:off x="292894" y="2475309"/>
            <a:ext cx="3621435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Grendene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914329" y="2475309"/>
            <a:ext cx="2442437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-2.101,49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356765" y="2475309"/>
            <a:ext cx="2494341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-2.101,49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292894" y="2837855"/>
            <a:ext cx="3621435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Marcopolo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914329" y="2837855"/>
            <a:ext cx="2442437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-1.443,61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356765" y="2837855"/>
            <a:ext cx="2494341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-1.443,61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292894" y="3200400"/>
            <a:ext cx="8558213" cy="36254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6" name="Text 23"/>
          <p:cNvSpPr/>
          <p:nvPr/>
        </p:nvSpPr>
        <p:spPr>
          <a:xfrm>
            <a:off x="292894" y="3200400"/>
            <a:ext cx="3621435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Tramontina TEEC Leitos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3914329" y="3200400"/>
            <a:ext cx="2442437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-4.341,31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356765" y="3200400"/>
            <a:ext cx="2494341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-4.341,31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292894" y="3562945"/>
            <a:ext cx="3621435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Viprado UF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3914329" y="3562945"/>
            <a:ext cx="2442437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-9.459,32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356765" y="3562945"/>
            <a:ext cx="2494341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-9.459,32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292894" y="3925491"/>
            <a:ext cx="8558213" cy="36611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3" name="Text 30"/>
          <p:cNvSpPr/>
          <p:nvPr/>
        </p:nvSpPr>
        <p:spPr>
          <a:xfrm>
            <a:off x="292894" y="3925491"/>
            <a:ext cx="3621435" cy="36611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Viprado ETE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3914329" y="3925491"/>
            <a:ext cx="2442437" cy="36611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-21.940,98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6356765" y="3925491"/>
            <a:ext cx="2494341" cy="36611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R$ -21.940,98</a:t>
            </a:r>
            <a:endParaRPr lang="en-US" sz="784" dirty="0"/>
          </a:p>
        </p:txBody>
      </p:sp>
      <p:sp>
        <p:nvSpPr>
          <p:cNvPr id="36" name="Shape 33"/>
          <p:cNvSpPr/>
          <p:nvPr/>
        </p:nvSpPr>
        <p:spPr>
          <a:xfrm>
            <a:off x="292894" y="4291608"/>
            <a:ext cx="3621435" cy="36968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Shape 34"/>
          <p:cNvSpPr/>
          <p:nvPr/>
        </p:nvSpPr>
        <p:spPr>
          <a:xfrm>
            <a:off x="292894" y="4291608"/>
            <a:ext cx="3621435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8" name="Text 35"/>
          <p:cNvSpPr/>
          <p:nvPr/>
        </p:nvSpPr>
        <p:spPr>
          <a:xfrm>
            <a:off x="292894" y="4291608"/>
            <a:ext cx="3621435" cy="36968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TOTAL</a:t>
            </a:r>
            <a:endParaRPr lang="en-US" sz="784" dirty="0"/>
          </a:p>
        </p:txBody>
      </p:sp>
      <p:sp>
        <p:nvSpPr>
          <p:cNvPr id="39" name="Shape 36"/>
          <p:cNvSpPr/>
          <p:nvPr/>
        </p:nvSpPr>
        <p:spPr>
          <a:xfrm>
            <a:off x="3914329" y="4288036"/>
            <a:ext cx="2442437" cy="36611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0" name="Shape 37"/>
          <p:cNvSpPr/>
          <p:nvPr/>
        </p:nvSpPr>
        <p:spPr>
          <a:xfrm>
            <a:off x="3914329" y="4288036"/>
            <a:ext cx="2442437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Text 38"/>
          <p:cNvSpPr/>
          <p:nvPr/>
        </p:nvSpPr>
        <p:spPr>
          <a:xfrm>
            <a:off x="3914329" y="4288036"/>
            <a:ext cx="2442437" cy="36611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R$ -39.711,71</a:t>
            </a:r>
            <a:endParaRPr lang="en-US" sz="784" dirty="0"/>
          </a:p>
        </p:txBody>
      </p:sp>
      <p:sp>
        <p:nvSpPr>
          <p:cNvPr id="42" name="Shape 39"/>
          <p:cNvSpPr/>
          <p:nvPr/>
        </p:nvSpPr>
        <p:spPr>
          <a:xfrm>
            <a:off x="6356765" y="4288036"/>
            <a:ext cx="2494341" cy="36611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Shape 40"/>
          <p:cNvSpPr/>
          <p:nvPr/>
        </p:nvSpPr>
        <p:spPr>
          <a:xfrm>
            <a:off x="6356765" y="4288036"/>
            <a:ext cx="2494341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4" name="Text 41"/>
          <p:cNvSpPr/>
          <p:nvPr/>
        </p:nvSpPr>
        <p:spPr>
          <a:xfrm>
            <a:off x="6356765" y="4288036"/>
            <a:ext cx="2494341" cy="36611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R$ -39.711,71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📈 Distribuição de Receitas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1386780"/>
            <a:ext cx="376668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C41E3A"/>
                </a:solidFill>
              </a:rPr>
              <a:t>92,5%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285750" y="1715393"/>
            <a:ext cx="3766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Tramontina TEEC Filtros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2154734"/>
            <a:ext cx="376668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C41E3A"/>
                </a:solidFill>
              </a:rPr>
              <a:t>5,9%</a:t>
            </a:r>
            <a:endParaRPr lang="en-US" sz="2121" dirty="0"/>
          </a:p>
        </p:txBody>
      </p:sp>
      <p:sp>
        <p:nvSpPr>
          <p:cNvPr id="9" name="Text 6"/>
          <p:cNvSpPr/>
          <p:nvPr/>
        </p:nvSpPr>
        <p:spPr>
          <a:xfrm>
            <a:off x="285750" y="2483346"/>
            <a:ext cx="3766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Flucor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285750" y="2922687"/>
            <a:ext cx="376668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C41E3A"/>
                </a:solidFill>
              </a:rPr>
              <a:t>1,5%</a:t>
            </a:r>
            <a:endParaRPr lang="en-US" sz="2121" dirty="0"/>
          </a:p>
        </p:txBody>
      </p:sp>
      <p:sp>
        <p:nvSpPr>
          <p:cNvPr id="11" name="Text 8"/>
          <p:cNvSpPr/>
          <p:nvPr/>
        </p:nvSpPr>
        <p:spPr>
          <a:xfrm>
            <a:off x="285750" y="3251299"/>
            <a:ext cx="3766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Tramontina Consultoria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285750" y="3762077"/>
            <a:ext cx="3766682" cy="839391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3762077"/>
            <a:ext cx="42863" cy="839391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3904952"/>
            <a:ext cx="34809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41E3A"/>
                </a:solidFill>
              </a:rPr>
              <a:t>⚠️ Risco Operacional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28625" y="4137124"/>
            <a:ext cx="348093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Alta concentração em um único projeto. Qualquer interrupção comprometerá a operação.</a:t>
            </a:r>
            <a:endParaRPr lang="en-US" sz="78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052" y="1401068"/>
            <a:ext cx="6855628" cy="3186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📊 Distribuição de Custos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1059061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C41E3A"/>
                </a:solidFill>
              </a:rPr>
              <a:t>50,1%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285875" y="1196578"/>
            <a:ext cx="7505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Viprado ETE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85750" y="1580555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C41E3A"/>
                </a:solidFill>
              </a:rPr>
              <a:t>21,6%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1285875" y="1718072"/>
            <a:ext cx="6999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Viprado UF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285750" y="2102048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C41E3A"/>
                </a:solidFill>
              </a:rPr>
              <a:t>9,9%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1285875" y="2239566"/>
            <a:ext cx="15034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Tramontina TEEC Leitos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85750" y="2623542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C41E3A"/>
                </a:solidFill>
              </a:rPr>
              <a:t>8,2%</a:t>
            </a:r>
            <a:endParaRPr lang="en-US" sz="1808" dirty="0"/>
          </a:p>
        </p:txBody>
      </p:sp>
      <p:sp>
        <p:nvSpPr>
          <p:cNvPr id="13" name="Text 10"/>
          <p:cNvSpPr/>
          <p:nvPr/>
        </p:nvSpPr>
        <p:spPr>
          <a:xfrm>
            <a:off x="1285875" y="2761059"/>
            <a:ext cx="15204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Tramontina TEEC Filtros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85750" y="3145036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C41E3A"/>
                </a:solidFill>
              </a:rPr>
              <a:t>10,2%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1285875" y="3282553"/>
            <a:ext cx="10423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Demais Projetos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5600700" y="2046377"/>
            <a:ext cx="3257550" cy="189549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5600700" y="2046377"/>
            <a:ext cx="57150" cy="18954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5"/>
          <p:cNvSpPr/>
          <p:nvPr/>
        </p:nvSpPr>
        <p:spPr>
          <a:xfrm>
            <a:off x="5815013" y="2260690"/>
            <a:ext cx="28289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Concentração Crítica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815013" y="2601804"/>
            <a:ext cx="28289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Os projetos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1E3A"/>
                </a:solidFill>
              </a:rPr>
              <a:t>Viprado (ETE e UF)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representam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sozinhos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1E3A"/>
                </a:solidFill>
              </a:rPr>
              <a:t>71,7%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de todos os custos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operacionais da empresa.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815013" y="3361832"/>
            <a:ext cx="28289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Nota: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 Estes projetos não geraram nenhuma receita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no período de Janeiro de 2026.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9233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1905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3429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✅ Pontos Fortes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1593056"/>
            <a:ext cx="8572500" cy="855464"/>
          </a:xfrm>
          <a:prstGeom prst="rect">
            <a:avLst/>
          </a:prstGeom>
          <a:solidFill>
            <a:srgbClr val="F9F9F9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" y="1607344"/>
            <a:ext cx="57150" cy="82688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78794"/>
            <a:ext cx="3963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7AE60"/>
                </a:solidFill>
              </a:rPr>
              <a:t>01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1082194" y="1778794"/>
            <a:ext cx="65673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Tramontina TEEC Filtros é Altamente Lucrativo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082194" y="2069902"/>
            <a:ext cx="65673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Apresenta uma margem excepcional de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89,98%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e é responsável por gerar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92,5%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da receita total da empresa.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285750" y="2605683"/>
            <a:ext cx="8572500" cy="855464"/>
          </a:xfrm>
          <a:prstGeom prst="rect">
            <a:avLst/>
          </a:prstGeom>
          <a:solidFill>
            <a:srgbClr val="F9F9F9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5750" y="2619970"/>
            <a:ext cx="57150" cy="82688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91420"/>
            <a:ext cx="3963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7AE60"/>
                </a:solidFill>
              </a:rPr>
              <a:t>02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1082194" y="2791420"/>
            <a:ext cx="72874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Projetos Rentáveis Mantêm Margens Positivas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082194" y="3082528"/>
            <a:ext cx="728746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Todos os projetos com receita ativa mantêm margens operacionais acima de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78%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, demonstrando eficiência na execução.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285750" y="3618309"/>
            <a:ext cx="8572500" cy="855464"/>
          </a:xfrm>
          <a:prstGeom prst="rect">
            <a:avLst/>
          </a:prstGeom>
          <a:solidFill>
            <a:srgbClr val="F9F9F9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750" y="3632597"/>
            <a:ext cx="57150" cy="82688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804047"/>
            <a:ext cx="3963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7AE60"/>
                </a:solidFill>
              </a:rPr>
              <a:t>03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1082194" y="3804047"/>
            <a:ext cx="69783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Controle de Custos Bem Estruturado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1082194" y="4095155"/>
            <a:ext cx="69783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estrutura de custos variáveis está bem controlada nos projetos produtivos, permitindo escalabilidade sustentável.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⚠️ Pontos de Atenção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1059061"/>
            <a:ext cx="4214813" cy="1863626"/>
          </a:xfrm>
          <a:prstGeom prst="rect">
            <a:avLst/>
          </a:prstGeom>
          <a:solidFill>
            <a:srgbClr val="FFFFFF"/>
          </a:solidFill>
          <a:ln w="27432">
            <a:solidFill>
              <a:srgbClr val="C41E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79203"/>
            <a:ext cx="3871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C41E3A"/>
                </a:solidFill>
              </a:rPr>
              <a:t>01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457200" y="1907828"/>
            <a:ext cx="387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Concentração de Receita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57200" y="2159645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92,5%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da receita total provém de um único projeto (Tramontina TEEC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Filtros), representando um risco operacional elevado.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643438" y="1059061"/>
            <a:ext cx="4214813" cy="1863626"/>
          </a:xfrm>
          <a:prstGeom prst="rect">
            <a:avLst/>
          </a:prstGeom>
          <a:solidFill>
            <a:srgbClr val="FFFFFF"/>
          </a:solidFill>
          <a:ln w="27432">
            <a:solidFill>
              <a:srgbClr val="C41E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4888" y="1479203"/>
            <a:ext cx="3871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C41E3A"/>
                </a:solidFill>
              </a:rPr>
              <a:t>02</a:t>
            </a:r>
            <a:endParaRPr lang="en-US" sz="2436" dirty="0"/>
          </a:p>
        </p:txBody>
      </p:sp>
      <p:sp>
        <p:nvSpPr>
          <p:cNvPr id="12" name="Text 9"/>
          <p:cNvSpPr/>
          <p:nvPr/>
        </p:nvSpPr>
        <p:spPr>
          <a:xfrm>
            <a:off x="4814888" y="1907828"/>
            <a:ext cx="387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Projetos Deficitários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814888" y="2159645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6 projetos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não geraram receita em janeiro, acumulando custos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operacionais sem retorno financeiro imediato.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85750" y="3065562"/>
            <a:ext cx="4214813" cy="1863626"/>
          </a:xfrm>
          <a:prstGeom prst="rect">
            <a:avLst/>
          </a:prstGeom>
          <a:solidFill>
            <a:srgbClr val="FFFFFF"/>
          </a:solidFill>
          <a:ln w="27432">
            <a:solidFill>
              <a:srgbClr val="C41E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485704"/>
            <a:ext cx="3871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C41E3A"/>
                </a:solidFill>
              </a:rPr>
              <a:t>03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457200" y="3914329"/>
            <a:ext cx="387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Desbalanceamento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57200" y="4166146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Os custos totais excedem as receitas em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R$ 4.933,68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, resultando em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uma margem operacional negativa de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-12,68%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643438" y="3065562"/>
            <a:ext cx="4214813" cy="1863626"/>
          </a:xfrm>
          <a:prstGeom prst="rect">
            <a:avLst/>
          </a:prstGeom>
          <a:solidFill>
            <a:srgbClr val="FFFFFF"/>
          </a:solidFill>
          <a:ln w="27432">
            <a:solidFill>
              <a:srgbClr val="C41E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4888" y="3485704"/>
            <a:ext cx="3871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C41E3A"/>
                </a:solidFill>
              </a:rPr>
              <a:t>04</a:t>
            </a:r>
            <a:endParaRPr lang="en-US" sz="2436" dirty="0"/>
          </a:p>
        </p:txBody>
      </p:sp>
      <p:sp>
        <p:nvSpPr>
          <p:cNvPr id="20" name="Text 17"/>
          <p:cNvSpPr/>
          <p:nvPr/>
        </p:nvSpPr>
        <p:spPr>
          <a:xfrm>
            <a:off x="4814888" y="3914329"/>
            <a:ext cx="387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Projetos Viprado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814888" y="4166146"/>
            <a:ext cx="3871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Os projetos Viprado (ETE e UF) representam sozinhos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50%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dos custos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totais da empresa, com receita zero no período.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💡 Recomendações Estratégicas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1130498"/>
            <a:ext cx="4179094" cy="175647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130498"/>
            <a:ext cx="4179094" cy="4286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01948"/>
            <a:ext cx="2973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52CC"/>
                </a:solidFill>
              </a:rPr>
              <a:t>01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868803" y="1435894"/>
            <a:ext cx="1491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Aumentar Receitas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57200" y="1737717"/>
            <a:ext cx="383619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Focar nos projetos deficitários. Revisar modelos de negócio, avaliar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fase de desenvolvimento atual e estabelecer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metas claras de receita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para os próximos trimestres.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679156" y="1130498"/>
            <a:ext cx="4179094" cy="175647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2" name="Shape 9"/>
          <p:cNvSpPr/>
          <p:nvPr/>
        </p:nvSpPr>
        <p:spPr>
          <a:xfrm>
            <a:off x="4679156" y="1130498"/>
            <a:ext cx="4179094" cy="4286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4850606" y="1301948"/>
            <a:ext cx="2973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52CC"/>
                </a:solidFill>
              </a:rPr>
              <a:t>02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5262209" y="1435894"/>
            <a:ext cx="15676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Diversificar Fontes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850606" y="1737717"/>
            <a:ext cx="383619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Reduzir a dependência crítica do projeto Tramontina TEEC Filtros. É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essencial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ativar o faturamento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nos projetos Viprado, Grendene 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Marcopolo para equilibrar o portfólio.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285750" y="3101280"/>
            <a:ext cx="4179094" cy="175647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85750" y="3101280"/>
            <a:ext cx="4179094" cy="4286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272730"/>
            <a:ext cx="2973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52CC"/>
                </a:solidFill>
              </a:rPr>
              <a:t>03</a:t>
            </a:r>
            <a:endParaRPr lang="en-US" sz="1808" dirty="0"/>
          </a:p>
        </p:txBody>
      </p:sp>
      <p:sp>
        <p:nvSpPr>
          <p:cNvPr id="19" name="Text 16"/>
          <p:cNvSpPr/>
          <p:nvPr/>
        </p:nvSpPr>
        <p:spPr>
          <a:xfrm>
            <a:off x="868803" y="3406676"/>
            <a:ext cx="1300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Otimizar Custos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57200" y="3708499"/>
            <a:ext cx="383619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Analisar profundamente a estrutura de custos dos projetos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Viprado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(50% do total)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. Avaliar a viabilidade de manutenção versus o retorno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esperado a curto prazo.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679156" y="3101280"/>
            <a:ext cx="4179094" cy="175647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4679156" y="3101280"/>
            <a:ext cx="4179094" cy="42863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4850606" y="3272730"/>
            <a:ext cx="2973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52CC"/>
                </a:solidFill>
              </a:rPr>
              <a:t>04</a:t>
            </a:r>
            <a:endParaRPr lang="en-US" sz="1808" dirty="0"/>
          </a:p>
        </p:txBody>
      </p:sp>
      <p:sp>
        <p:nvSpPr>
          <p:cNvPr id="24" name="Text 21"/>
          <p:cNvSpPr/>
          <p:nvPr/>
        </p:nvSpPr>
        <p:spPr>
          <a:xfrm>
            <a:off x="5262209" y="3406676"/>
            <a:ext cx="13311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Monitoramento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4850606" y="3708499"/>
            <a:ext cx="383619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Implementar um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acompanhamento mensal rigoroso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dos indicadores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de desempenho (KPIs), focando na evolução da margem de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contribuição e redução do déficit operacional.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7150"/>
            <a:ext cx="9144000" cy="8161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47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7146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📋 Próximos Passos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85800" y="1130498"/>
            <a:ext cx="30588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Apresentação ao cliente Zeo Solutions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85800" y="1535906"/>
            <a:ext cx="504887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Discussão sobre estratégia de receita para projetos deficitários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685800" y="1941314"/>
            <a:ext cx="35370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Planejamento de ações corretivas imediatas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685800" y="2346722"/>
            <a:ext cx="46884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Acompanhamento mensal de indicadores de performance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685800" y="2752130"/>
            <a:ext cx="3793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Revisão de viabilidade dos projetos sem receita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285750" y="4059436"/>
            <a:ext cx="8572500" cy="798314"/>
          </a:xfrm>
          <a:prstGeom prst="rect">
            <a:avLst/>
          </a:prstGeom>
          <a:solidFill>
            <a:srgbClr val="F0FFF4"/>
          </a:solidFill>
          <a:ln w="27432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063" y="4330898"/>
            <a:ext cx="81438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27AE60"/>
                </a:solidFill>
              </a:rPr>
              <a:t>🎯 Meta: Atingir Resultado Positivo nos Próximos Meses</a:t>
            </a:r>
            <a:endParaRPr lang="en-US" sz="160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7329" y="1132284"/>
            <a:ext cx="3309342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500"/>
              </a:lnSpc>
              <a:buNone/>
            </a:pPr>
            <a:r>
              <a:rPr lang="en-US" sz="4974" b="1" spc="-2" kern="0" dirty="0">
                <a:solidFill>
                  <a:srgbClr val="C41E3A"/>
                </a:solidFill>
              </a:rPr>
              <a:t>Obrigado!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3426991" y="2237780"/>
            <a:ext cx="229001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11111"/>
                </a:solidFill>
              </a:rPr>
              <a:t>BI Zeo Solutions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2428875" y="2855714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Para dúvidas ou mais informações sobre este relatório, entre em contato com nossa equipe.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0" y="4388048"/>
            <a:ext cx="9144000" cy="7554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388048"/>
            <a:ext cx="91440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4702373"/>
            <a:ext cx="13506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📊 Período: Janeiro 2026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580579" y="4702373"/>
            <a:ext cx="12776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02 de Fevereiro de 2026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2026-02-02T18:01:54Z</dcterms:created>
  <dcterms:modified xsi:type="dcterms:W3CDTF">2026-02-02T18:01:54Z</dcterms:modified>
</cp:coreProperties>
</file>